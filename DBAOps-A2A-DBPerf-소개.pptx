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6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3554D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949440" y="3108960"/>
            <a:ext cx="3657600" cy="3657600"/>
          </a:xfrm>
          <a:prstGeom prst="ellipse">
            <a:avLst/>
          </a:prstGeom>
          <a:solidFill>
            <a:srgbClr val="0C9B8D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224528" y="1024128"/>
            <a:ext cx="694944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0" y="740664"/>
            <a:ext cx="566928" cy="566928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001" y="888065"/>
            <a:ext cx="272125" cy="272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19472" y="740664"/>
            <a:ext cx="566928" cy="566928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873" y="888065"/>
            <a:ext cx="272125" cy="2721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15727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DB 운영 에이전트 플랫폼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914400" y="23957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 × DBPerf — 두 AI 전문가가 A2A 프로토콜로 협업하는 데이터베이스 운영 자동화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1691640" y="329184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B2750"/>
          </a:solidFill>
          <a:ln w="15875">
            <a:solidFill>
              <a:srgbClr val="0C9B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1691640" y="32735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AI Agents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03320" y="329184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B2750"/>
          </a:solidFill>
          <a:ln w="15875">
            <a:solidFill>
              <a:srgbClr val="3554D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3703320" y="32735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진단 도구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715000" y="3291840"/>
            <a:ext cx="1737360" cy="475488"/>
          </a:xfrm>
          <a:prstGeom prst="roundRect">
            <a:avLst>
              <a:gd name="adj" fmla="val 50000"/>
            </a:avLst>
          </a:prstGeom>
          <a:solidFill>
            <a:srgbClr val="1B2750"/>
          </a:solidFill>
          <a:ln w="158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5715000" y="32735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DB 엔진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E8B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고객 소개 자료  ·  2026. 07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장애 대응, 왜 늦어질까요?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01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969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장애의 원인은 쿼리와 인프라 어느 쪽에도 있을 수 있지만, 진단 체계는 나뉘어 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58775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13232" y="1847088"/>
            <a:ext cx="512064" cy="512064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9" y="19802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542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사일로화된 진단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2889504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튜닝은 DBA, 인프라 RCA는 운영팀 — 원인이 어느 영역인지 오가는 동안 장애 시간이 길어집니다.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73552" y="1572768"/>
            <a:ext cx="258775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529584" y="1847088"/>
            <a:ext cx="512064" cy="512064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721" y="19802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9584" y="2542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엔진마다 다른 방법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29584" y="2889504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Server, PostgreSQL, MySQL 모두 진단 쿼리와 도구가 제각각 — 엔진별 전문 지식이 매번 필요합니다.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9904" y="1572768"/>
            <a:ext cx="2587752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345936" y="184708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073" y="198022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45936" y="25420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수작업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45936" y="2889504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쿼리·블로킹·인덱스 점검을 사람이 DMV 쿼리로 반복 수행 — 심야와 주말에는 대응이 더 늦어집니다.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명의 AI 전문가가 함께 진단합니다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02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56616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" cy="2880360"/>
          </a:xfrm>
          <a:prstGeom prst="rect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" y="1389888"/>
            <a:ext cx="512064" cy="512064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7" y="152302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389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DBPerf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71600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성능 전문가 (신규 개발)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49808" y="2139696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쿼리·블로킹·실행계획 분석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추천, 테이블 건강 점검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Server · PostgreSQL · MySQL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56616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E0F3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31520" y="35478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 ·  Claude Sonnet 4.5 (Bedrock)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120640" y="1143000"/>
            <a:ext cx="3566160" cy="2880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5120640" y="1143000"/>
            <a:ext cx="82296" cy="2880360"/>
          </a:xfrm>
          <a:prstGeom prst="rect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5394960" y="1389888"/>
            <a:ext cx="512064" cy="512064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097" y="1523025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35040" y="1389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035040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554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RCA 전문가 (기존 자산)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413248" y="2139696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OS·호스트 메트릭, 로그 분석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 · RDS MySQL · Kafka(MSK)</a:t>
            </a:r>
            <a:endParaRPr lang="en-US" sz="110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1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코드 무수정 — A2A 서버만 추가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394960" y="356616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E4E9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5394960" y="35478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554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 ·  Claude Opus 4.7 (Bedrock)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023360" y="2578608"/>
            <a:ext cx="1097280" cy="0"/>
          </a:xfrm>
          <a:prstGeom prst="line">
            <a:avLst/>
          </a:prstGeom>
          <a:noFill/>
          <a:ln w="19050">
            <a:solidFill>
              <a:srgbClr val="9AA5C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4261104" y="2267712"/>
            <a:ext cx="621792" cy="621792"/>
          </a:xfrm>
          <a:prstGeom prst="ellipse">
            <a:avLst/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2770" y="2429378"/>
            <a:ext cx="298460" cy="298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023360" y="2926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57200" y="4315968"/>
            <a:ext cx="8229600" cy="420624"/>
          </a:xfrm>
          <a:prstGeom prst="rect">
            <a:avLst/>
          </a:prstGeom>
          <a:solidFill>
            <a:srgbClr val="111A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457200" y="42976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질문은 한 번 — 쿼리와 인프라, 두 전문가가 스스로 협업해 하나의 리포트로 답합니다.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03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0" y="566928"/>
            <a:ext cx="4114800" cy="292608"/>
          </a:xfrm>
          <a:prstGeom prst="roundRect">
            <a:avLst>
              <a:gd name="adj" fmla="val 50000"/>
            </a:avLst>
          </a:prstGeom>
          <a:solidFill>
            <a:srgbClr val="E9E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0" y="548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1대  ·  venv + systemd (docker 불필요)  ·  내부 통신은 127.0.0.1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0" y="1005840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C0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730752" y="1005840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브라우저(CloudFront) · Slack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flipH="1">
            <a:off x="2377440" y="1481328"/>
            <a:ext cx="2057400" cy="384048"/>
          </a:xfrm>
          <a:prstGeom prst="line">
            <a:avLst/>
          </a:prstGeom>
          <a:noFill/>
          <a:ln w="22225">
            <a:solidFill>
              <a:srgbClr val="9AA5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1481328"/>
            <a:ext cx="2057400" cy="384048"/>
          </a:xfrm>
          <a:prstGeom prst="line">
            <a:avLst/>
          </a:prstGeom>
          <a:noFill/>
          <a:ln w="22225">
            <a:solidFill>
              <a:srgbClr val="9AA5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85800" y="1865376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C9B8D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58952" y="186537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 Web UI  :8502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322576"/>
            <a:ext cx="0" cy="219456"/>
          </a:xfrm>
          <a:prstGeom prst="line">
            <a:avLst/>
          </a:prstGeom>
          <a:noFill/>
          <a:ln w="22225">
            <a:solidFill>
              <a:srgbClr val="0C9B8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85800" y="2542032"/>
            <a:ext cx="3383280" cy="566928"/>
          </a:xfrm>
          <a:prstGeom prst="rect">
            <a:avLst/>
          </a:prstGeom>
          <a:solidFill>
            <a:srgbClr val="E0F3F1"/>
          </a:solidFill>
          <a:ln w="12700">
            <a:solidFill>
              <a:srgbClr val="0C9B8D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58952" y="2542032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dbperf-a2a  :9100 — 쿼리 성능 에이전트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LangGraph: analyze → validate → report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77440" y="3108960"/>
            <a:ext cx="0" cy="219456"/>
          </a:xfrm>
          <a:prstGeom prst="line">
            <a:avLst/>
          </a:prstGeom>
          <a:noFill/>
          <a:ln w="22225">
            <a:solidFill>
              <a:srgbClr val="0C9B8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85800" y="3328416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C9B8D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58952" y="332841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stdio MCP — 진단 도구 13종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3785616"/>
            <a:ext cx="0" cy="219456"/>
          </a:xfrm>
          <a:prstGeom prst="line">
            <a:avLst/>
          </a:prstGeom>
          <a:noFill/>
          <a:ln w="22225">
            <a:solidFill>
              <a:srgbClr val="0C9B8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85800" y="4005072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C9B8D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58952" y="4005072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Server · PostgreSQL · MySQL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1865376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54D1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148072" y="186537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 Web UI  :8501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322576"/>
            <a:ext cx="0" cy="219456"/>
          </a:xfrm>
          <a:prstGeom prst="line">
            <a:avLst/>
          </a:prstGeom>
          <a:noFill/>
          <a:ln w="22225">
            <a:solidFill>
              <a:srgbClr val="3554D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5074920" y="2542032"/>
            <a:ext cx="3383280" cy="566928"/>
          </a:xfrm>
          <a:prstGeom prst="rect">
            <a:avLst/>
          </a:prstGeom>
          <a:solidFill>
            <a:srgbClr val="E4E9FB"/>
          </a:solidFill>
          <a:ln w="12700">
            <a:solidFill>
              <a:srgbClr val="3554D1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148072" y="2542032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  :9102 — RCA 에이전트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DBAOps 그래프를 a2a-sdk로 노출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3108960"/>
            <a:ext cx="0" cy="219456"/>
          </a:xfrm>
          <a:prstGeom prst="line">
            <a:avLst/>
          </a:prstGeom>
          <a:noFill/>
          <a:ln w="22225">
            <a:solidFill>
              <a:srgbClr val="3554D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5074920" y="3328416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554D1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148072" y="3328416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Router  :9000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3785616"/>
            <a:ext cx="0" cy="219456"/>
          </a:xfrm>
          <a:prstGeom prst="line">
            <a:avLst/>
          </a:prstGeom>
          <a:noFill/>
          <a:ln w="22225">
            <a:solidFill>
              <a:srgbClr val="3554D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5074920" y="4005072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3554D1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48072" y="4005072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데이터 소스</a:t>
            </a:r>
            <a:endParaRPr lang="en-US" sz="11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 · RDS MySQL · Kafka · Prometheus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069080" y="2825496"/>
            <a:ext cx="1005840" cy="0"/>
          </a:xfrm>
          <a:prstGeom prst="line">
            <a:avLst/>
          </a:prstGeom>
          <a:noFill/>
          <a:ln w="25400">
            <a:solidFill>
              <a:srgbClr val="1B234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06908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양방향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노출은 웹 UI(8501/8502)뿐 — A2A·MCP·에이전트 포트는 전부 내부 통신입니다.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DBPERF — 13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도구 세트로 3개 엔진을 진단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04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0424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Server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91640" y="106070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691640" y="10424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060704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926080" y="104241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43400" y="1005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논리적으로 한 세트 — target 파라미터로 대상 DB를 고르면 내부 SQL이 엔진별로 자동 분기됩니다.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572768"/>
            <a:ext cx="2587752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" y="1755648"/>
            <a:ext cx="420624" cy="420624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018" y="1865010"/>
            <a:ext cx="201900" cy="2019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25296" y="17739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조회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505456" y="1810512"/>
            <a:ext cx="402336" cy="274320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2505456" y="179222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94944" y="228600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80" dirty="0">
                <a:solidFill>
                  <a:srgbClr val="5A6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list_db_targets — 등록 DB 목록 조회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3273552" y="1572768"/>
            <a:ext cx="2587752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3493008" y="1755648"/>
            <a:ext cx="420624" cy="420624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370" y="1865010"/>
            <a:ext cx="201900" cy="2019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41648" y="17739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/ 저장소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321808" y="1810512"/>
            <a:ext cx="402336" cy="274320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5321808" y="179222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511296" y="228600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80" dirty="0">
                <a:solidFill>
                  <a:srgbClr val="5A6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check_query_store_enabled · get_top_queries · get_regressed_queries</a:t>
            </a:r>
            <a:endParaRPr lang="en-US" sz="880" dirty="0"/>
          </a:p>
        </p:txBody>
      </p:sp>
      <p:sp>
        <p:nvSpPr>
          <p:cNvPr id="26" name="Shape 22"/>
          <p:cNvSpPr/>
          <p:nvPr/>
        </p:nvSpPr>
        <p:spPr>
          <a:xfrm>
            <a:off x="6089904" y="1572768"/>
            <a:ext cx="2587752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6309360" y="175564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722" y="1865010"/>
            <a:ext cx="201900" cy="2019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858000" y="17739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진단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8138160" y="1810512"/>
            <a:ext cx="402336" cy="274320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8138160" y="179222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6327648" y="2286000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80" dirty="0">
                <a:solidFill>
                  <a:srgbClr val="5A6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get_slow_queries · get_blocking_sessions · get_query_plan · get_wait_stats</a:t>
            </a:r>
            <a:endParaRPr lang="en-US" sz="880" dirty="0"/>
          </a:p>
        </p:txBody>
      </p:sp>
      <p:sp>
        <p:nvSpPr>
          <p:cNvPr id="33" name="Shape 28"/>
          <p:cNvSpPr/>
          <p:nvPr/>
        </p:nvSpPr>
        <p:spPr>
          <a:xfrm>
            <a:off x="457200" y="3291840"/>
            <a:ext cx="2587752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676656" y="3474720"/>
            <a:ext cx="420624" cy="420624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018" y="3584082"/>
            <a:ext cx="201900" cy="2019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225296" y="3493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/ 건강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2505456" y="3529584"/>
            <a:ext cx="402336" cy="274320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/>
          <p:nvPr/>
        </p:nvSpPr>
        <p:spPr>
          <a:xfrm>
            <a:off x="2505456" y="35112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694944" y="4005072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80" dirty="0">
                <a:solidFill>
                  <a:srgbClr val="5A6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suggest_indexes · get_index_usage · get_table_health · get_connection_stats</a:t>
            </a:r>
            <a:endParaRPr lang="en-US" sz="880" dirty="0"/>
          </a:p>
        </p:txBody>
      </p:sp>
      <p:sp>
        <p:nvSpPr>
          <p:cNvPr id="40" name="Shape 34"/>
          <p:cNvSpPr/>
          <p:nvPr/>
        </p:nvSpPr>
        <p:spPr>
          <a:xfrm>
            <a:off x="3273552" y="3291840"/>
            <a:ext cx="2587752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5"/>
          <p:cNvSpPr/>
          <p:nvPr/>
        </p:nvSpPr>
        <p:spPr>
          <a:xfrm>
            <a:off x="3493008" y="3474720"/>
            <a:ext cx="420624" cy="420624"/>
          </a:xfrm>
          <a:prstGeom prst="ellipse">
            <a:avLst/>
          </a:prstGeom>
          <a:solidFill>
            <a:srgbClr val="C74B6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2370" y="3584082"/>
            <a:ext cx="201900" cy="2019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041648" y="3493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5321808" y="3529584"/>
            <a:ext cx="402336" cy="274320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/>
          <p:cNvSpPr/>
          <p:nvPr/>
        </p:nvSpPr>
        <p:spPr>
          <a:xfrm>
            <a:off x="5321808" y="35112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1종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3511296" y="4005072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80" dirty="0">
                <a:solidFill>
                  <a:srgbClr val="5A6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send_slack_notification — 결과를 Slack 채널로</a:t>
            </a:r>
            <a:endParaRPr lang="en-US" sz="880" dirty="0"/>
          </a:p>
        </p:txBody>
      </p:sp>
      <p:sp>
        <p:nvSpPr>
          <p:cNvPr id="47" name="Shape 40"/>
          <p:cNvSpPr/>
          <p:nvPr/>
        </p:nvSpPr>
        <p:spPr>
          <a:xfrm>
            <a:off x="6089904" y="3291840"/>
            <a:ext cx="2587752" cy="1444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1"/>
          <p:cNvSpPr/>
          <p:nvPr/>
        </p:nvSpPr>
        <p:spPr>
          <a:xfrm>
            <a:off x="6309360" y="3474720"/>
            <a:ext cx="420624" cy="420624"/>
          </a:xfrm>
          <a:prstGeom prst="ellipse">
            <a:avLst/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722" y="3584082"/>
            <a:ext cx="201900" cy="20190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858000" y="3493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협업 (내장)</a:t>
            </a:r>
            <a:endParaRPr lang="en-US" sz="1300" dirty="0"/>
          </a:p>
        </p:txBody>
      </p:sp>
      <p:sp>
        <p:nvSpPr>
          <p:cNvPr id="51" name="Shape 43"/>
          <p:cNvSpPr/>
          <p:nvPr/>
        </p:nvSpPr>
        <p:spPr>
          <a:xfrm>
            <a:off x="8138160" y="3529584"/>
            <a:ext cx="402336" cy="274320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4"/>
          <p:cNvSpPr/>
          <p:nvPr/>
        </p:nvSpPr>
        <p:spPr>
          <a:xfrm>
            <a:off x="8138160" y="351129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</a:t>
            </a:r>
            <a:endParaRPr lang="en-US" sz="950" dirty="0"/>
          </a:p>
        </p:txBody>
      </p:sp>
      <p:sp>
        <p:nvSpPr>
          <p:cNvPr id="53" name="Text 45"/>
          <p:cNvSpPr/>
          <p:nvPr/>
        </p:nvSpPr>
        <p:spPr>
          <a:xfrm>
            <a:off x="6327648" y="4005072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80" dirty="0">
                <a:solidFill>
                  <a:srgbClr val="5A66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ask_dbaops_agent — 인프라 질문을 DBAOps에 위임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DBPERF TOOLS  1 /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 도구 상세 ① — 타깃 조회 · 이력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05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1005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163824" y="1005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하나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36208" y="1005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엔진별 동작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58368" y="1435608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20" y="1535460"/>
            <a:ext cx="184343" cy="1843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207008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list_db_targets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가능한 DB 목록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63824" y="120700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타깃과 엔진·설명을 반환. "pg 쪽 봐줘" 같은 자연어를 타깃으로 매핑하는 출발점.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053328" y="1335024"/>
            <a:ext cx="0" cy="58521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236208" y="120700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DB_TARGETS 레지스트리 조회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457200" y="2121408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58368" y="2350008"/>
            <a:ext cx="384048" cy="384048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20" y="2449860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2121408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check_query_store_enabled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이력 수집 켜져 있어?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163824" y="212140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이력 수집 기능의 활성 여부와 설정을 확인 — 이력 기반 분석이 가능한지 먼저 판단.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6053328" y="2249424"/>
            <a:ext cx="0" cy="58521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6236208" y="212140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Store 상태·보존 설정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pg_stat_statements 확장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performance_schema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457200" y="3035808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58368" y="3264408"/>
            <a:ext cx="384048" cy="384048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20" y="3364260"/>
            <a:ext cx="184343" cy="18434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88720" y="3035808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get_top_queries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리소스 제일 먹은 쿼리 톱N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163824" y="303580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CPU·경과시간·IO 기준 상위 쿼리와 실행 횟수·평균 시간을 집계 — 튜닝 대상 선정의 기본.</a:t>
            </a:r>
            <a:endParaRPr lang="en-US" sz="930" dirty="0"/>
          </a:p>
        </p:txBody>
      </p:sp>
      <p:sp>
        <p:nvSpPr>
          <p:cNvPr id="27" name="Shape 22"/>
          <p:cNvSpPr/>
          <p:nvPr/>
        </p:nvSpPr>
        <p:spPr>
          <a:xfrm>
            <a:off x="6053328" y="3163824"/>
            <a:ext cx="0" cy="58521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6236208" y="303580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시간창 지정 (최근 N시간)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통계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통계 (digest)</a:t>
            </a:r>
            <a:endParaRPr lang="en-US" sz="830" dirty="0"/>
          </a:p>
        </p:txBody>
      </p:sp>
      <p:sp>
        <p:nvSpPr>
          <p:cNvPr id="29" name="Shape 24"/>
          <p:cNvSpPr/>
          <p:nvPr/>
        </p:nvSpPr>
        <p:spPr>
          <a:xfrm>
            <a:off x="457200" y="3950208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658368" y="417880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220" y="4278660"/>
            <a:ext cx="184343" cy="18434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88720" y="3950208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get_regressed_queries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예전보다 느려진 쿼리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163824" y="395020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구간과 이전 구간의 평균 실행시간을 비교해 성능이 회귀한 쿼리를 탐지.</a:t>
            </a:r>
            <a:endParaRPr lang="en-US" sz="930" dirty="0"/>
          </a:p>
        </p:txBody>
      </p:sp>
      <p:sp>
        <p:nvSpPr>
          <p:cNvPr id="34" name="Shape 28"/>
          <p:cNvSpPr/>
          <p:nvPr/>
        </p:nvSpPr>
        <p:spPr>
          <a:xfrm>
            <a:off x="6053328" y="4078224"/>
            <a:ext cx="0" cy="58521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/>
          <p:nvPr/>
        </p:nvSpPr>
        <p:spPr>
          <a:xfrm>
            <a:off x="6236208" y="395020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Store 시간버킷 비교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엔진: 제약과 대안을 정직하게 안내</a:t>
            </a:r>
            <a:endParaRPr lang="en-US" sz="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DBPERF TOOLS  2 /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 도구 상세 ② — 실시간 진단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06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1005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163824" y="1005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하나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36208" y="1005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엔진별 동작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58368" y="143560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20" y="1535460"/>
            <a:ext cx="184343" cy="1843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207008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get_slow_queries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N초 넘게 도는 쿼리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63824" y="120700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실행 중인 세션에서 임계값을 넘긴 쿼리·세션·대기 상태를 즉시 조회.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053328" y="1335024"/>
            <a:ext cx="0" cy="58521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236208" y="120700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DMV (exec_requests)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pg_stat_activity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processlist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457200" y="2121408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58368" y="2350008"/>
            <a:ext cx="384048" cy="384048"/>
          </a:xfrm>
          <a:prstGeom prst="ellipse">
            <a:avLst/>
          </a:prstGeom>
          <a:solidFill>
            <a:srgbClr val="C74B6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20" y="2449860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2121408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get_blocking_sessions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누구를 막고 있어?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163824" y="212140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 블로킹 체인을 추적 — 가해자/피해자 세션과 양쪽의 쿼리 텍스트까지 함께 제시.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6053328" y="2249424"/>
            <a:ext cx="0" cy="58521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6236208" y="212140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블로킹 체인 DMV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pg_blocking_pids()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data_locks 조인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457200" y="3035808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58368" y="3264408"/>
            <a:ext cx="384048" cy="384048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20" y="3364260"/>
            <a:ext cx="184343" cy="18434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88720" y="3035808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get_query_plan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쿼리 실행계획 보여줘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163824" y="303580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조각으로 대상을 찾아 실행계획을 조회 — 풀스캔/조인 방식/인덱스 사용을 판독.</a:t>
            </a:r>
            <a:endParaRPr lang="en-US" sz="930" dirty="0"/>
          </a:p>
        </p:txBody>
      </p:sp>
      <p:sp>
        <p:nvSpPr>
          <p:cNvPr id="27" name="Shape 22"/>
          <p:cNvSpPr/>
          <p:nvPr/>
        </p:nvSpPr>
        <p:spPr>
          <a:xfrm>
            <a:off x="6053328" y="3163824"/>
            <a:ext cx="0" cy="58521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6236208" y="303580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플랜캐시 XML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EXPLAIN (FORMAT JSON)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EXPLAIN FORMAT=JSON</a:t>
            </a:r>
            <a:endParaRPr lang="en-US" sz="830" dirty="0"/>
          </a:p>
        </p:txBody>
      </p:sp>
      <p:sp>
        <p:nvSpPr>
          <p:cNvPr id="29" name="Shape 24"/>
          <p:cNvSpPr/>
          <p:nvPr/>
        </p:nvSpPr>
        <p:spPr>
          <a:xfrm>
            <a:off x="457200" y="3950208"/>
            <a:ext cx="82296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658368" y="4178808"/>
            <a:ext cx="384048" cy="384048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220" y="4278660"/>
            <a:ext cx="184343" cy="18434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88720" y="3950208"/>
            <a:ext cx="1883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get_wait_stats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뭘 기다리느라 느린 거야?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163824" y="3950208"/>
            <a:ext cx="2743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유형 통계로 병목을 분류 — CPU 경합인지, IO인지, 락 대기인지 방향을 잡는다.</a:t>
            </a:r>
            <a:endParaRPr lang="en-US" sz="930" dirty="0"/>
          </a:p>
        </p:txBody>
      </p:sp>
      <p:sp>
        <p:nvSpPr>
          <p:cNvPr id="34" name="Shape 28"/>
          <p:cNvSpPr/>
          <p:nvPr/>
        </p:nvSpPr>
        <p:spPr>
          <a:xfrm>
            <a:off x="6053328" y="4078224"/>
            <a:ext cx="0" cy="58521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/>
          <p:nvPr/>
        </p:nvSpPr>
        <p:spPr>
          <a:xfrm>
            <a:off x="6236208" y="3950208"/>
            <a:ext cx="2286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쿼리별 대기 (Query Store)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activity 대기 스냅샷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wait 이벤트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DBPERF TOOLS  3 /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 도구 상세 ③ — 인덱스 · 건강 · 알림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07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88720" y="10058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163824" y="1005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하나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236208" y="10058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엔진별 동작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658368" y="134874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20" y="1448592"/>
            <a:ext cx="184343" cy="18434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207008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suggest_indexes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만들면 빨라질 곳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163824" y="120700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추가 효과가 큰 지점을 제안 — 실행이 아닌 권고문으로만 제시.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6053328" y="1335024"/>
            <a:ext cx="0" cy="411480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236208" y="1207008"/>
            <a:ext cx="2286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인덱스 DMV → DDL 생성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풀스캔 상위 테이블 후보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풀스캔 상위 테이블 후보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457200" y="1938528"/>
            <a:ext cx="822960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658368" y="2080260"/>
            <a:ext cx="384048" cy="384048"/>
          </a:xfrm>
          <a:prstGeom prst="ellipse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20" y="2180112"/>
            <a:ext cx="184343" cy="18434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1938528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get_index_usage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쓰는 인덱스 뭐야?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163824" y="193852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읽기에 안 쓰이면서 쓰기 부담만 주는 인덱스를 찾아 삭제 후보로 제시.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6053328" y="2066544"/>
            <a:ext cx="0" cy="411480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6236208" y="1938528"/>
            <a:ext cx="2286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usage 통계 (읽기/쓰기 카운트) 기준 판정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457200" y="2670048"/>
            <a:ext cx="822960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58368" y="2811780"/>
            <a:ext cx="384048" cy="384048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20" y="2911632"/>
            <a:ext cx="184343" cy="18434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88720" y="2670048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get_table_health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건강 상태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3163824" y="267004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유지보수 필요 지점을 점검 — 방치 시 성능이 서서히 나빠지는 항목들.</a:t>
            </a:r>
            <a:endParaRPr lang="en-US" sz="930" dirty="0"/>
          </a:p>
        </p:txBody>
      </p:sp>
      <p:sp>
        <p:nvSpPr>
          <p:cNvPr id="27" name="Shape 22"/>
          <p:cNvSpPr/>
          <p:nvPr/>
        </p:nvSpPr>
        <p:spPr>
          <a:xfrm>
            <a:off x="6053328" y="2798064"/>
            <a:ext cx="0" cy="411480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6236208" y="2670048"/>
            <a:ext cx="2286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 단편화율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dead tuple · VACUUM 이력</a:t>
            </a:r>
            <a:endParaRPr lang="en-US" sz="83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단편화 / OPTIMIZE 후보</a:t>
            </a:r>
            <a:endParaRPr lang="en-US" sz="830" dirty="0"/>
          </a:p>
        </p:txBody>
      </p:sp>
      <p:sp>
        <p:nvSpPr>
          <p:cNvPr id="29" name="Shape 24"/>
          <p:cNvSpPr/>
          <p:nvPr/>
        </p:nvSpPr>
        <p:spPr>
          <a:xfrm>
            <a:off x="457200" y="3401568"/>
            <a:ext cx="822960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658368" y="3543300"/>
            <a:ext cx="384048" cy="384048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220" y="3643152"/>
            <a:ext cx="184343" cy="184343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88720" y="3401568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get_connection_stats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커넥션 여유 있어?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163824" y="340156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상태 분포와 max_connections 대비 사용률 — idle in transaction 같은 위험 신호 포착.</a:t>
            </a:r>
            <a:endParaRPr lang="en-US" sz="930" dirty="0"/>
          </a:p>
        </p:txBody>
      </p:sp>
      <p:sp>
        <p:nvSpPr>
          <p:cNvPr id="34" name="Shape 28"/>
          <p:cNvSpPr/>
          <p:nvPr/>
        </p:nvSpPr>
        <p:spPr>
          <a:xfrm>
            <a:off x="6053328" y="3529584"/>
            <a:ext cx="0" cy="411480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/>
          <p:nvPr/>
        </p:nvSpPr>
        <p:spPr>
          <a:xfrm>
            <a:off x="6236208" y="3401568"/>
            <a:ext cx="2286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카탈로그 집계 (엔진별 뷰 자동 선택)</a:t>
            </a:r>
            <a:endParaRPr lang="en-US" sz="830" dirty="0"/>
          </a:p>
        </p:txBody>
      </p:sp>
      <p:sp>
        <p:nvSpPr>
          <p:cNvPr id="36" name="Shape 30"/>
          <p:cNvSpPr/>
          <p:nvPr/>
        </p:nvSpPr>
        <p:spPr>
          <a:xfrm>
            <a:off x="457200" y="4133088"/>
            <a:ext cx="8229600" cy="66751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658368" y="4274820"/>
            <a:ext cx="384048" cy="384048"/>
          </a:xfrm>
          <a:prstGeom prst="ellipse">
            <a:avLst/>
          </a:prstGeom>
          <a:solidFill>
            <a:srgbClr val="C74B6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220" y="4374672"/>
            <a:ext cx="184343" cy="184343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188720" y="4133088"/>
            <a:ext cx="18836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send_slack_notification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850" i="1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Slack으로 보내줘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3163824" y="413308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결과를 지정 채널로 발송 — 사용자가 명시적으로 요청할 때만 동작.</a:t>
            </a:r>
            <a:endParaRPr lang="en-US" sz="930" dirty="0"/>
          </a:p>
        </p:txBody>
      </p:sp>
      <p:sp>
        <p:nvSpPr>
          <p:cNvPr id="41" name="Shape 34"/>
          <p:cNvSpPr/>
          <p:nvPr/>
        </p:nvSpPr>
        <p:spPr>
          <a:xfrm>
            <a:off x="6053328" y="4261104"/>
            <a:ext cx="0" cy="411480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5"/>
          <p:cNvSpPr/>
          <p:nvPr/>
        </p:nvSpPr>
        <p:spPr>
          <a:xfrm>
            <a:off x="6236208" y="4133088"/>
            <a:ext cx="22860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83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공통     </a:t>
            </a:r>
            <a:r>
              <a:rPr lang="en-US" sz="8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chat.postMessage (Bot Token)</a:t>
            </a:r>
            <a:endParaRPr lang="en-US" sz="8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554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DBAOps가 바라보는 데이터 소스 — 10개 도구 타깃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00507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82296" cy="1481328"/>
          </a:xfrm>
          <a:prstGeom prst="rect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94944" y="1371600"/>
            <a:ext cx="402336" cy="402336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551" y="1476207"/>
            <a:ext cx="193121" cy="1931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13716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관리형 진단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18288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86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rds-pi  </a:t>
            </a:r>
            <a:r>
              <a:rPr lang="en-US" sz="86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Performance Insights — 부하(AAS) 기준 top SQL·대기</a:t>
            </a:r>
            <a:endParaRPr lang="en-US" sz="86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86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aws-api  </a:t>
            </a:r>
            <a:r>
              <a:rPr lang="en-US" sz="86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RDS·Aurora·EC2·MSK 메타/이벤트/엔진 로그 (11종)</a:t>
            </a:r>
            <a:endParaRPr lang="en-US" sz="86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86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awslabs-aws-api  </a:t>
            </a:r>
            <a:r>
              <a:rPr lang="en-US" sz="86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API 전반 읽기 호출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4681728" y="1207008"/>
            <a:ext cx="400507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681728" y="1207008"/>
            <a:ext cx="82296" cy="1481328"/>
          </a:xfrm>
          <a:prstGeom prst="rect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919472" y="1371600"/>
            <a:ext cx="402336" cy="402336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079" y="1476207"/>
            <a:ext cx="193121" cy="1931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9824" y="13716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메트릭 · 모니터링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956048" y="182880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86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community-prometheus  </a:t>
            </a:r>
            <a:r>
              <a:rPr lang="en-US" sz="86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PromQL — CPU·메모리·디스크 시계열</a:t>
            </a:r>
            <a:endParaRPr lang="en-US" sz="86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86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awslabs-cloudwatch  </a:t>
            </a:r>
            <a:r>
              <a:rPr lang="en-US" sz="86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CloudWatch 지표·알람·Logs Insights</a:t>
            </a:r>
            <a:endParaRPr lang="en-US" sz="86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86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msk-metrics  </a:t>
            </a:r>
            <a:r>
              <a:rPr lang="en-US" sz="86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Kafka(MSK) 브로커 처리량·컨슈머 랙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457200" y="2834640"/>
            <a:ext cx="400507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457200" y="2834640"/>
            <a:ext cx="82296" cy="14813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694944" y="2999232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551" y="3103839"/>
            <a:ext cx="193121" cy="19312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25296" y="2999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직접 조회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731520" y="34564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86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community-postgres  </a:t>
            </a:r>
            <a:r>
              <a:rPr lang="en-US" sz="86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 PG — 헬스체크·인덱스 추천 등 9종</a:t>
            </a:r>
            <a:endParaRPr lang="en-US" sz="86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86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community-mysql  </a:t>
            </a:r>
            <a:r>
              <a:rPr lang="en-US" sz="86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MySQL — 읽기 전용 SQL 조회</a:t>
            </a:r>
            <a:endParaRPr lang="en-US" sz="860" dirty="0"/>
          </a:p>
        </p:txBody>
      </p:sp>
      <p:sp>
        <p:nvSpPr>
          <p:cNvPr id="23" name="Shape 18"/>
          <p:cNvSpPr/>
          <p:nvPr/>
        </p:nvSpPr>
        <p:spPr>
          <a:xfrm>
            <a:off x="4681728" y="2834640"/>
            <a:ext cx="4005072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4681728" y="2834640"/>
            <a:ext cx="82296" cy="1481328"/>
          </a:xfrm>
          <a:prstGeom prst="rect">
            <a:avLst/>
          </a:prstGeom>
          <a:solidFill>
            <a:srgbClr val="C74B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4919472" y="2999232"/>
            <a:ext cx="402336" cy="402336"/>
          </a:xfrm>
          <a:prstGeom prst="ellipse">
            <a:avLst/>
          </a:prstGeom>
          <a:solidFill>
            <a:srgbClr val="C74B6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079" y="3103839"/>
            <a:ext cx="193121" cy="19312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9824" y="2999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· 문서 근거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4956048" y="345643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2000"/>
              </a:lnSpc>
              <a:buNone/>
            </a:pPr>
            <a:r>
              <a:rPr lang="en-US" sz="860" b="1" dirty="0">
                <a:solidFill>
                  <a:srgbClr val="C74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s3-log-fetch  </a:t>
            </a:r>
            <a:r>
              <a:rPr lang="en-US" sz="86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로그 목록 탐색 + regex 라인 검색</a:t>
            </a:r>
            <a:endParaRPr lang="en-US" sz="86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860" b="1" dirty="0">
                <a:solidFill>
                  <a:srgbClr val="C74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awslabs-aws-doc  </a:t>
            </a:r>
            <a:r>
              <a:rPr lang="en-US" sz="86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공식 문서 검색 — 답변 근거 인용</a:t>
            </a:r>
            <a:endParaRPr lang="en-US" sz="860" dirty="0"/>
          </a:p>
        </p:txBody>
      </p:sp>
      <p:sp>
        <p:nvSpPr>
          <p:cNvPr id="29" name="Shape 23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solidFill>
            <a:srgbClr val="E9ED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타깃은 DBAOps UI 연결설정에서 켜고 끕니다 — 활성화된 도구만 에이전트에게 노출 (MCP Router :9000이 통합 서빙)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554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 — DIAGNOSTIC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장애가 나면 DBAOps는 무엇을 확인하나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09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713232" y="9875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질문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889504" y="98755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도구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285232" y="9875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확인하는 것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207008"/>
            <a:ext cx="82296" cy="530352"/>
          </a:xfrm>
          <a:prstGeom prst="rect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13232" y="120700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DB가 왜 느리지?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89504" y="12070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554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rds-pi · community-postgres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75504" y="1316736"/>
            <a:ext cx="0" cy="31089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285232" y="120700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부하(AAS) 기준 top SQL과 대기 이벤트, PG 헬스체크·인덱스 상태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57200" y="1810512"/>
            <a:ext cx="8229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1810512"/>
            <a:ext cx="82296" cy="530352"/>
          </a:xfrm>
          <a:prstGeom prst="rect">
            <a:avLst/>
          </a:prstGeom>
          <a:solidFill>
            <a:srgbClr val="08706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13232" y="181051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호스트·OS는 정상인가?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9504" y="181051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870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 · cloudwatch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75504" y="1920240"/>
            <a:ext cx="0" cy="31089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285232" y="181051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CPU·메모리·디스크·네트워크 시계열, CloudWatch 알람 상태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57200" y="2414016"/>
            <a:ext cx="8229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2414016"/>
            <a:ext cx="82296" cy="530352"/>
          </a:xfrm>
          <a:prstGeom prst="rect">
            <a:avLst/>
          </a:prstGeom>
          <a:solidFill>
            <a:srgbClr val="9C670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13232" y="2414016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파이프라인은?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9504" y="241401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C67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msk-metrics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75504" y="2523744"/>
            <a:ext cx="0" cy="31089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285232" y="241401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브로커 in/out 처리량, 파티션 상태, 컨슈머 랙 추이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8229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82296" cy="530352"/>
          </a:xfrm>
          <a:prstGeom prst="rect">
            <a:avLst/>
          </a:prstGeom>
          <a:solidFill>
            <a:srgbClr val="C74B6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13232" y="3017520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로그에 에러 단서는?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9504" y="30175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74B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s3-log-fetch · aws-api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175504" y="3127248"/>
            <a:ext cx="0" cy="31089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285232" y="301752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적재 로그 regex 검색, RDS 엔진 로그 마지막 N라인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457200" y="3621024"/>
            <a:ext cx="8229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57200" y="3621024"/>
            <a:ext cx="82296" cy="530352"/>
          </a:xfrm>
          <a:prstGeom prst="rect">
            <a:avLst/>
          </a:prstGeom>
          <a:solidFill>
            <a:srgbClr val="50808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13232" y="3621024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AWS에서 무슨 일 있었나?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89504" y="362102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080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aws-api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75504" y="3730752"/>
            <a:ext cx="0" cy="31089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285232" y="362102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failover·재시작·파라미터 변경 이벤트 이력, AWS 자동 권장사항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457200" y="4224528"/>
            <a:ext cx="82296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57200" y="4224528"/>
            <a:ext cx="82296" cy="530352"/>
          </a:xfrm>
          <a:prstGeom prst="rect">
            <a:avLst/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13232" y="4224528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차원 원인은?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889504" y="422452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ask_perf_agent (A2A)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75504" y="4334256"/>
            <a:ext cx="0" cy="310896"/>
          </a:xfrm>
          <a:prstGeom prst="line">
            <a:avLst/>
          </a:prstGeom>
          <a:noFill/>
          <a:ln w="9525">
            <a:solidFill>
              <a:srgbClr val="E3E8F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285232" y="422452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튜닝 관점이 필요하면 DBPerf 에이전트에 위임해 답을 인용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 — LANGGRAPH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성격에 따라 경로를 고르는 에이전트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10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9509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앞의 LLM 라우터가 질의를 판정 — 일상 질문은 빠른 ReAct로, 보고서 요청만 검증 워크플로를 태웁니다. (두 에이전트 공통 구조)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3716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96112" y="2450592"/>
            <a:ext cx="384048" cy="384048"/>
          </a:xfrm>
          <a:prstGeom prst="ellipse">
            <a:avLst/>
          </a:prstGeom>
          <a:solidFill>
            <a:srgbClr val="9AA5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964" y="2550444"/>
            <a:ext cx="184343" cy="18434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8529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질의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847088" y="2715768"/>
            <a:ext cx="365760" cy="0"/>
          </a:xfrm>
          <a:prstGeom prst="line">
            <a:avLst/>
          </a:prstGeom>
          <a:noFill/>
          <a:ln w="25400">
            <a:solidFill>
              <a:srgbClr val="9AA5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2249424" y="2212848"/>
            <a:ext cx="1572768" cy="1005840"/>
          </a:xfrm>
          <a:prstGeom prst="rect">
            <a:avLst/>
          </a:prstGeom>
          <a:solidFill>
            <a:srgbClr val="111A38"/>
          </a:solidFill>
          <a:ln/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395728" y="234086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826" y="2435962"/>
            <a:ext cx="175565" cy="1755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98064" y="2286000"/>
            <a:ext cx="100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판정 1회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"보고서를 원하는가?"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840480" y="2487168"/>
            <a:ext cx="566928" cy="0"/>
          </a:xfrm>
          <a:prstGeom prst="line">
            <a:avLst/>
          </a:prstGeom>
          <a:noFill/>
          <a:ln w="28575">
            <a:solidFill>
              <a:srgbClr val="0C9B8D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3840480" y="2944368"/>
            <a:ext cx="566928" cy="475488"/>
          </a:xfrm>
          <a:prstGeom prst="line">
            <a:avLst/>
          </a:prstGeom>
          <a:noFill/>
          <a:ln w="28575">
            <a:solidFill>
              <a:srgbClr val="3554D1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2286000" y="175564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0F3F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22860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7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 질문 · 조회 · 차트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286000" y="3602736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E4E9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2286000" y="3584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554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"보고서로 정리해줘"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17136" y="1481328"/>
            <a:ext cx="4169664" cy="1024128"/>
          </a:xfrm>
          <a:prstGeom prst="rect">
            <a:avLst/>
          </a:prstGeom>
          <a:solidFill>
            <a:srgbClr val="FFFFFF"/>
          </a:solidFill>
          <a:ln w="15875">
            <a:solidFill>
              <a:srgbClr val="0C9B8D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8"/>
          <p:cNvSpPr/>
          <p:nvPr/>
        </p:nvSpPr>
        <p:spPr>
          <a:xfrm>
            <a:off x="4517136" y="1481328"/>
            <a:ext cx="82296" cy="1024128"/>
          </a:xfrm>
          <a:prstGeom prst="rect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4718304" y="1627632"/>
            <a:ext cx="402336" cy="402336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911" y="1732239"/>
            <a:ext cx="193121" cy="19312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48656" y="16276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모드 (single)  </a:t>
            </a:r>
            <a:r>
              <a:rPr lang="en-US" sz="950" dirty="0">
                <a:solidFill>
                  <a:srgbClr val="0870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검증 생략, 빠름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3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도구를 골라 호출하며 동료처럼 대화체로 바로 답변. 진행상황 스트리밍 + 필요 시 차트 첨부.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4517136" y="2871216"/>
            <a:ext cx="4169664" cy="1481328"/>
          </a:xfrm>
          <a:prstGeom prst="rect">
            <a:avLst/>
          </a:prstGeom>
          <a:solidFill>
            <a:srgbClr val="FFFFFF"/>
          </a:solidFill>
          <a:ln w="15875">
            <a:solidFill>
              <a:srgbClr val="3554D1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4517136" y="2871216"/>
            <a:ext cx="82296" cy="1481328"/>
          </a:xfrm>
          <a:prstGeom prst="rect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4736592" y="29809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워크플로 (pipeline)  </a:t>
            </a:r>
            <a:r>
              <a:rPr lang="en-US" sz="950" dirty="0">
                <a:solidFill>
                  <a:srgbClr val="3554D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검증 후에만 출고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4736592" y="3346704"/>
            <a:ext cx="859536" cy="365760"/>
          </a:xfrm>
          <a:prstGeom prst="roundRect">
            <a:avLst>
              <a:gd name="adj" fmla="val 20000"/>
            </a:avLst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/>
          <p:nvPr/>
        </p:nvSpPr>
        <p:spPr>
          <a:xfrm>
            <a:off x="4736592" y="3328416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5614416" y="3529584"/>
            <a:ext cx="91440" cy="0"/>
          </a:xfrm>
          <a:prstGeom prst="line">
            <a:avLst/>
          </a:prstGeom>
          <a:noFill/>
          <a:ln w="19050">
            <a:solidFill>
              <a:srgbClr val="9AA5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5724144" y="3346704"/>
            <a:ext cx="859536" cy="365760"/>
          </a:xfrm>
          <a:prstGeom prst="roundRect">
            <a:avLst>
              <a:gd name="adj" fmla="val 20000"/>
            </a:avLst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8"/>
          <p:cNvSpPr/>
          <p:nvPr/>
        </p:nvSpPr>
        <p:spPr>
          <a:xfrm>
            <a:off x="5724144" y="3328416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601968" y="3529584"/>
            <a:ext cx="91440" cy="0"/>
          </a:xfrm>
          <a:prstGeom prst="line">
            <a:avLst/>
          </a:prstGeom>
          <a:noFill/>
          <a:ln w="19050">
            <a:solidFill>
              <a:srgbClr val="9AA5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0"/>
          <p:cNvSpPr/>
          <p:nvPr/>
        </p:nvSpPr>
        <p:spPr>
          <a:xfrm>
            <a:off x="6711696" y="3346704"/>
            <a:ext cx="859536" cy="36576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1"/>
          <p:cNvSpPr/>
          <p:nvPr/>
        </p:nvSpPr>
        <p:spPr>
          <a:xfrm>
            <a:off x="6711696" y="3328416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revise*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7589520" y="3529584"/>
            <a:ext cx="91440" cy="0"/>
          </a:xfrm>
          <a:prstGeom prst="line">
            <a:avLst/>
          </a:prstGeom>
          <a:noFill/>
          <a:ln w="19050">
            <a:solidFill>
              <a:srgbClr val="9AA5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3"/>
          <p:cNvSpPr/>
          <p:nvPr/>
        </p:nvSpPr>
        <p:spPr>
          <a:xfrm>
            <a:off x="7699248" y="3346704"/>
            <a:ext cx="859536" cy="365760"/>
          </a:xfrm>
          <a:prstGeom prst="roundRect">
            <a:avLst>
              <a:gd name="adj" fmla="val 20000"/>
            </a:avLst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4"/>
          <p:cNvSpPr/>
          <p:nvPr/>
        </p:nvSpPr>
        <p:spPr>
          <a:xfrm>
            <a:off x="7699248" y="3328416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736592" y="38039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8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LLM이 근거 없는 수치·무시된 에러를 검증, 실패 시 revise 1회 재분석(*조건부) 후 정형 리포트로 출고.</a:t>
            </a:r>
            <a:endParaRPr lang="en-US" sz="880" dirty="0"/>
          </a:p>
        </p:txBody>
      </p:sp>
      <p:sp>
        <p:nvSpPr>
          <p:cNvPr id="41" name="Shape 36"/>
          <p:cNvSpPr/>
          <p:nvPr/>
        </p:nvSpPr>
        <p:spPr>
          <a:xfrm>
            <a:off x="457200" y="4498848"/>
            <a:ext cx="82296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7"/>
          <p:cNvSpPr/>
          <p:nvPr/>
        </p:nvSpPr>
        <p:spPr>
          <a:xfrm>
            <a:off x="621792" y="4562856"/>
            <a:ext cx="274320" cy="274320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" y="4634179"/>
            <a:ext cx="131674" cy="13167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87552" y="4498848"/>
            <a:ext cx="7589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차단  </a:t>
            </a:r>
            <a:r>
              <a:rPr lang="en-US" sz="90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경로는 실제 도구 호출 목록과 대조 검증 · 진단 SQL은 전부 코드에 고정 — 임의 SQL 생성 불가 · 라우터 판정은 mode 인자로 강제 오버라이드 가능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시나리오 — 질문 한 번, 종합 리포트 하나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11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58368" y="1170432"/>
            <a:ext cx="329184" cy="329184"/>
          </a:xfrm>
          <a:prstGeom prst="ellipse">
            <a:avLst/>
          </a:prstGeom>
          <a:solidFill>
            <a:srgbClr val="9AA5C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56" y="1256020"/>
            <a:ext cx="158008" cy="1580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" y="105156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“mssql 느린 쿼리 원인을 분석하고, 같은 시간대 서버 CPU 상황도 같이 봐줘”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975104"/>
            <a:ext cx="256032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975104"/>
            <a:ext cx="2560320" cy="64008"/>
          </a:xfrm>
          <a:prstGeom prst="rect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76656" y="2194560"/>
            <a:ext cx="457200" cy="457200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3134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6656" y="27432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DBPerf가 쿼리를 분석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76656" y="3035808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 Store·DMV 도구로 회귀 쿼리, 블로킹, 실행계획을 직접 조사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3044952" y="2852928"/>
            <a:ext cx="219456" cy="0"/>
          </a:xfrm>
          <a:prstGeom prst="line">
            <a:avLst/>
          </a:prstGeom>
          <a:noFill/>
          <a:ln w="25400">
            <a:solidFill>
              <a:srgbClr val="9AA5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3291840" y="1975104"/>
            <a:ext cx="256032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3291840" y="1975104"/>
            <a:ext cx="2560320" cy="64008"/>
          </a:xfrm>
          <a:prstGeom prst="rect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3511296" y="2194560"/>
            <a:ext cx="457200" cy="457200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231343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11296" y="27432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인프라는 DBAOps에 위임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3511296" y="3035808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ask_dbaops_agent(A2A 호출)로 같은 시간대 호스트 CPU·메트릭 RCA를 요청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5879592" y="2852928"/>
            <a:ext cx="219456" cy="0"/>
          </a:xfrm>
          <a:prstGeom prst="line">
            <a:avLst/>
          </a:prstGeom>
          <a:noFill/>
          <a:ln w="25400">
            <a:solidFill>
              <a:srgbClr val="9AA5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6126480" y="1975104"/>
            <a:ext cx="2560320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6126480" y="1975104"/>
            <a:ext cx="2560320" cy="64008"/>
          </a:xfrm>
          <a:prstGeom prst="rect">
            <a:avLst/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6345936" y="2194560"/>
            <a:ext cx="457200" cy="457200"/>
          </a:xfrm>
          <a:prstGeom prst="ellipse">
            <a:avLst/>
          </a:prstGeom>
          <a:solidFill>
            <a:srgbClr val="1B234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2313432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345936" y="274320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통합 리포트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6345936" y="3035808"/>
            <a:ext cx="2121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원인 + 인프라 상황을 출처(DBAOps 인용 포함)와 함께 종합</a:t>
            </a:r>
            <a:endParaRPr lang="en-US" sz="980" dirty="0"/>
          </a:p>
        </p:txBody>
      </p:sp>
      <p:sp>
        <p:nvSpPr>
          <p:cNvPr id="29" name="Shape 23"/>
          <p:cNvSpPr/>
          <p:nvPr/>
        </p:nvSpPr>
        <p:spPr>
          <a:xfrm>
            <a:off x="457200" y="3986784"/>
            <a:ext cx="8229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4"/>
          <p:cNvSpPr/>
          <p:nvPr/>
        </p:nvSpPr>
        <p:spPr>
          <a:xfrm>
            <a:off x="676656" y="4114800"/>
            <a:ext cx="402336" cy="402336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263" y="4219407"/>
            <a:ext cx="193121" cy="193121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225296" y="398678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방향도 동일하게 동작합니다.  </a:t>
            </a: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DBAOps가 인프라를 점검하다 쿼리 관점이 필요하면 ask_perf_agent로 DBPerf에 위임 — 역할 경계 프롬프트가 무한 위임을 막습니다.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쓰던 채널에서 그대로 사용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12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8775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512064" cy="512064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9" y="1733337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295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UI (Streamlit)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724912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CloudFront HTTPS로 어디서나 접속</a:t>
            </a:r>
            <a:endParaRPr lang="en-US" sz="10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 · DBAOps · 연동 관리 3개 탭</a:t>
            </a:r>
            <a:endParaRPr lang="en-US" sz="10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DB·Slack·A2A 상태 원클릭 점검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73552" y="1325880"/>
            <a:ext cx="258775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529584" y="1600200"/>
            <a:ext cx="512064" cy="512064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721" y="1733337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9584" y="2295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47872" y="2724912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@perfagent — 쿼리 성능 질문</a:t>
            </a:r>
            <a:endParaRPr lang="en-US" sz="10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@dbaagent — 인프라 RCA 질문</a:t>
            </a:r>
            <a:endParaRPr lang="en-US" sz="10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스레드에서 멘션 없이 이어서 대화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9904" y="1325880"/>
            <a:ext cx="258775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345936" y="16002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073" y="1733337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295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· A2A API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364224" y="2724912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query_agent.py 원샷/대화형 실행</a:t>
            </a:r>
            <a:endParaRPr lang="en-US" sz="10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agent card 엔드포인트 제공</a:t>
            </a:r>
            <a:endParaRPr lang="en-US" sz="1050" dirty="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시스템이 A2A로 직접 연동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Slack 채널에서 두 에이전트를 따로 멘션해 나눠 물을 수 있습니다 — 에이전트별 앱 2개 구성.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C9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TRUST &amp; SAFETY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환경을 전제로 한 안전장치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0" y="48646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DBAOps-A2A-DBPerf  ·  13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05072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94944" y="1499616"/>
            <a:ext cx="475488" cy="475488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71" y="1623243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499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진단 SQL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53312" y="181051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13종 도구의 SQL은 전부 코드에 하드코딩 — LLM이 임의의 SQL을 생성해 실행하는 일이 없습니다.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81728" y="1280160"/>
            <a:ext cx="4005072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919472" y="1499616"/>
            <a:ext cx="475488" cy="475488"/>
          </a:xfrm>
          <a:prstGeom prst="ellipse">
            <a:avLst/>
          </a:prstGeom>
          <a:solidFill>
            <a:srgbClr val="3554D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099" y="1623243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4996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진단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1810512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DB를 변경하지 않습니다. CREATE INDEX 등 개선안은 실행이 아닌 권고문으로만 제시합니다.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035808"/>
            <a:ext cx="4005072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94944" y="3255264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71" y="3378891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255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검증 파이프라인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53312" y="35661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LLM이 분석 결과를 도구 호출 이력과 대조 검증 — 근거 없는 수치를 리포트 전에 차단합니다.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681728" y="3035808"/>
            <a:ext cx="4005072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8F4"/>
            </a:solidFill>
            <a:prstDash val="solid"/>
          </a:ln>
          <a:effectLst>
            <a:outerShdw blurRad="88900" dist="25400" dir="8100000" algn="bl" rotWithShape="0">
              <a:srgbClr val="1B2340">
                <a:alpha val="1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919472" y="3255264"/>
            <a:ext cx="475488" cy="475488"/>
          </a:xfrm>
          <a:prstGeom prst="ellipse">
            <a:avLst/>
          </a:prstGeom>
          <a:solidFill>
            <a:srgbClr val="D1667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3099" y="3378891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255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3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· 자격증명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77840" y="35661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A66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노출은 웹 UI뿐, A2A·MCP는 127.0.0.1 내부 통신. DB 암호는 Secrets Manager로만 관리합니다.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645920"/>
            <a:ext cx="4023360" cy="4023360"/>
          </a:xfrm>
          <a:prstGeom prst="ellipse">
            <a:avLst/>
          </a:prstGeom>
          <a:solidFill>
            <a:srgbClr val="0C9B8D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463040" y="3291840"/>
            <a:ext cx="3657600" cy="3657600"/>
          </a:xfrm>
          <a:prstGeom prst="ellipse">
            <a:avLst/>
          </a:prstGeom>
          <a:solidFill>
            <a:srgbClr val="3554D1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성능(DBPerf)과 인프라 RCA(DBAOps), 두 AI 전문가가 A2A로 자율 협업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Server · PostgreSQL · MySQL을 하나의 도구 세트(13종)로 진단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파이프라인 + 고정 SQL + 읽기 전용 — 운영 환경에 안전하게</a:t>
            </a:r>
            <a:endParaRPr lang="en-US" sz="1300" dirty="0"/>
          </a:p>
          <a:p>
            <a:pPr marL="177800" indent="-177800">
              <a:spcAft>
                <a:spcPts val="1600"/>
              </a:spcAft>
              <a:buSzPct val="100000"/>
              <a:buChar char="✓"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DBAOps 자산은 무수정 — A2A 서버 한 파일만 더해 통합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234440"/>
            <a:ext cx="2926080" cy="2395728"/>
          </a:xfrm>
          <a:prstGeom prst="rect">
            <a:avLst/>
          </a:prstGeom>
          <a:solidFill>
            <a:srgbClr val="1B2750"/>
          </a:solidFill>
          <a:ln w="15875">
            <a:solidFill>
              <a:srgbClr val="5468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89320" y="1426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환경 바로가기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89320" y="1755648"/>
            <a:ext cx="2514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7FDC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 UI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dcc3of9o678kv.cloudfront.net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9DB4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DBAOps UI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dpgp5ivsrtdp4.cloudfront.net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0C9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@perfagent · @dbaagent 멘션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4041648"/>
            <a:ext cx="8138160" cy="566928"/>
          </a:xfrm>
          <a:prstGeom prst="rect">
            <a:avLst/>
          </a:prstGeom>
          <a:solidFill>
            <a:srgbClr val="2230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749808" y="4142232"/>
            <a:ext cx="365760" cy="365760"/>
          </a:xfrm>
          <a:prstGeom prst="ellipse">
            <a:avLst/>
          </a:prstGeom>
          <a:solidFill>
            <a:srgbClr val="0C9B8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6" y="4237330"/>
            <a:ext cx="175565" cy="17556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43584" y="404164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 </a:t>
            </a: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앱 토큰 연동 → 실제 채널에서 두 에이전트 데모 → 고객 DB 타깃 등록(DB_TARGETS) 확대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1928</Words>
  <Application>Microsoft Macintosh PowerPoint</Application>
  <PresentationFormat>화면 슬라이드 쇼(16:9)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DB 운영 에이전트 플랫폼</dc:title>
  <dc:subject>PptxGenJS Presentation</dc:subject>
  <dc:creator>DBAOps-A2A-DBPerf</dc:creator>
  <cp:lastModifiedBy>Park, Hyeonsu</cp:lastModifiedBy>
  <cp:revision>2</cp:revision>
  <dcterms:created xsi:type="dcterms:W3CDTF">2026-07-15T03:20:58Z</dcterms:created>
  <dcterms:modified xsi:type="dcterms:W3CDTF">2026-07-15T05:01:44Z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2026-07-15T05:01:43Z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0f8dd845-6e0d-461d-8fa2-88cdaa411023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